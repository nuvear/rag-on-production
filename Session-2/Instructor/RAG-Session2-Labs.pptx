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648ca2f554479" /><Relationship Type="http://schemas.openxmlformats.org/officeDocument/2006/relationships/extended-properties" Target="/docProps/app.xml" Id="Rf3ce7c3747ab4726" /><Relationship Type="http://schemas.openxmlformats.org/officeDocument/2006/relationships/officeDocument" Target="/ppt/presentation.xml" Id="R706d4010cf3c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19c40aece34e5c"/>
  </p:sldMasterIdLst>
  <p:notesMasterIdLst>
    <p:notesMasterId xmlns:r="http://schemas.openxmlformats.org/officeDocument/2006/relationships" r:id="R5baa02a7dcdd4d17"/>
  </p:notesMasterIdLst>
  <p:sldIdLst>
    <p:sldId xmlns:r="http://schemas.openxmlformats.org/officeDocument/2006/relationships" id="256" r:id="R5ea0f502e6104866"/>
    <p:sldId xmlns:r="http://schemas.openxmlformats.org/officeDocument/2006/relationships" id="257" r:id="Rc3589f590b4d4a5e"/>
    <p:sldId xmlns:r="http://schemas.openxmlformats.org/officeDocument/2006/relationships" id="258" r:id="Ra52ae1e4f5e6466a"/>
    <p:sldId xmlns:r="http://schemas.openxmlformats.org/officeDocument/2006/relationships" id="259" r:id="Ra3e726958d9144a5"/>
    <p:sldId xmlns:r="http://schemas.openxmlformats.org/officeDocument/2006/relationships" id="260" r:id="Rc3e1ded0a4764840"/>
    <p:sldId xmlns:r="http://schemas.openxmlformats.org/officeDocument/2006/relationships" id="261" r:id="R24cb714927c148a6"/>
    <p:sldId xmlns:r="http://schemas.openxmlformats.org/officeDocument/2006/relationships" id="262" r:id="R888c0714de534af8"/>
    <p:sldId xmlns:r="http://schemas.openxmlformats.org/officeDocument/2006/relationships" id="263" r:id="Rdc45fb97f58a4ffd"/>
    <p:sldId xmlns:r="http://schemas.openxmlformats.org/officeDocument/2006/relationships" id="264" r:id="R49af45e49f48408a"/>
    <p:sldId xmlns:r="http://schemas.openxmlformats.org/officeDocument/2006/relationships" id="265" r:id="Rdab96a56f1db4ced"/>
    <p:sldId xmlns:r="http://schemas.openxmlformats.org/officeDocument/2006/relationships" id="266" r:id="Rfab42d82829a4165"/>
    <p:sldId xmlns:r="http://schemas.openxmlformats.org/officeDocument/2006/relationships" id="267" r:id="R87f04a3d625e4da7"/>
    <p:sldId xmlns:r="http://schemas.openxmlformats.org/officeDocument/2006/relationships" id="268" r:id="R5e7773cb4db54498"/>
    <p:sldId xmlns:r="http://schemas.openxmlformats.org/officeDocument/2006/relationships" id="269" r:id="Rdd1e1368e10a4ace"/>
    <p:sldId xmlns:r="http://schemas.openxmlformats.org/officeDocument/2006/relationships" id="270" r:id="R3f55f465dc2c4a52"/>
    <p:sldId xmlns:r="http://schemas.openxmlformats.org/officeDocument/2006/relationships" id="271" r:id="Raf90742906984f73"/>
    <p:sldId xmlns:r="http://schemas.openxmlformats.org/officeDocument/2006/relationships" id="272" r:id="R463fa2d0aefb4032"/>
    <p:sldId xmlns:r="http://schemas.openxmlformats.org/officeDocument/2006/relationships" id="273" r:id="Rd058e9ba729e4f37"/>
    <p:sldId xmlns:r="http://schemas.openxmlformats.org/officeDocument/2006/relationships" id="274" r:id="R76d3360392764e93"/>
    <p:sldId xmlns:r="http://schemas.openxmlformats.org/officeDocument/2006/relationships" id="275" r:id="R5da53e6ce7ac4c89"/>
    <p:sldId xmlns:r="http://schemas.openxmlformats.org/officeDocument/2006/relationships" id="276" r:id="R36cba5fb797545ef"/>
    <p:sldId xmlns:r="http://schemas.openxmlformats.org/officeDocument/2006/relationships" id="277" r:id="R98977adf2790420d"/>
    <p:sldId xmlns:r="http://schemas.openxmlformats.org/officeDocument/2006/relationships" id="278" r:id="R9685146a2cb74de0"/>
    <p:sldId xmlns:r="http://schemas.openxmlformats.org/officeDocument/2006/relationships" id="279" r:id="R04b3c1338a1640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b8ebb0b6e4399" /><Relationship Type="http://schemas.openxmlformats.org/officeDocument/2006/relationships/slideMaster" Target="/ppt/slideMasters/slideMaster1.xml" Id="R7019c40aece34e5c" /><Relationship Type="http://schemas.openxmlformats.org/officeDocument/2006/relationships/notesMaster" Target="/ppt/notesMasters/notesMaster1.xml" Id="R5baa02a7dcdd4d17" /><Relationship Type="http://schemas.openxmlformats.org/officeDocument/2006/relationships/presProps" Target="/ppt/presProps.xml" Id="Rd30cadaf186c49ff" /><Relationship Type="http://schemas.openxmlformats.org/officeDocument/2006/relationships/tableStyles" Target="/ppt/tableStyles.xml" Id="R14fb916760bd4f58" /><Relationship Type="http://schemas.openxmlformats.org/officeDocument/2006/relationships/slide" Target="/ppt/slides/slide1.xml" Id="R5ea0f502e6104866" /><Relationship Type="http://schemas.openxmlformats.org/officeDocument/2006/relationships/slide" Target="/ppt/slides/slide2.xml" Id="Rc3589f590b4d4a5e" /><Relationship Type="http://schemas.openxmlformats.org/officeDocument/2006/relationships/slide" Target="/ppt/slides/slide3.xml" Id="Ra52ae1e4f5e6466a" /><Relationship Type="http://schemas.openxmlformats.org/officeDocument/2006/relationships/slide" Target="/ppt/slides/slide4.xml" Id="Ra3e726958d9144a5" /><Relationship Type="http://schemas.openxmlformats.org/officeDocument/2006/relationships/slide" Target="/ppt/slides/slide5.xml" Id="Rc3e1ded0a4764840" /><Relationship Type="http://schemas.openxmlformats.org/officeDocument/2006/relationships/slide" Target="/ppt/slides/slide6.xml" Id="R24cb714927c148a6" /><Relationship Type="http://schemas.openxmlformats.org/officeDocument/2006/relationships/slide" Target="/ppt/slides/slide7.xml" Id="R888c0714de534af8" /><Relationship Type="http://schemas.openxmlformats.org/officeDocument/2006/relationships/slide" Target="/ppt/slides/slide8.xml" Id="Rdc45fb97f58a4ffd" /><Relationship Type="http://schemas.openxmlformats.org/officeDocument/2006/relationships/slide" Target="/ppt/slides/slide9.xml" Id="R49af45e49f48408a" /><Relationship Type="http://schemas.openxmlformats.org/officeDocument/2006/relationships/slide" Target="/ppt/slides/slide10.xml" Id="Rdab96a56f1db4ced" /><Relationship Type="http://schemas.openxmlformats.org/officeDocument/2006/relationships/slide" Target="/ppt/slides/slide11.xml" Id="Rfab42d82829a4165" /><Relationship Type="http://schemas.openxmlformats.org/officeDocument/2006/relationships/slide" Target="/ppt/slides/slide12.xml" Id="R87f04a3d625e4da7" /><Relationship Type="http://schemas.openxmlformats.org/officeDocument/2006/relationships/slide" Target="/ppt/slides/slide13.xml" Id="R5e7773cb4db54498" /><Relationship Type="http://schemas.openxmlformats.org/officeDocument/2006/relationships/slide" Target="/ppt/slides/slide14.xml" Id="Rdd1e1368e10a4ace" /><Relationship Type="http://schemas.openxmlformats.org/officeDocument/2006/relationships/slide" Target="/ppt/slides/slide15.xml" Id="R3f55f465dc2c4a52" /><Relationship Type="http://schemas.openxmlformats.org/officeDocument/2006/relationships/slide" Target="/ppt/slides/slide16.xml" Id="Raf90742906984f73" /><Relationship Type="http://schemas.openxmlformats.org/officeDocument/2006/relationships/slide" Target="/ppt/slides/slide17.xml" Id="R463fa2d0aefb4032" /><Relationship Type="http://schemas.openxmlformats.org/officeDocument/2006/relationships/slide" Target="/ppt/slides/slide18.xml" Id="Rd058e9ba729e4f37" /><Relationship Type="http://schemas.openxmlformats.org/officeDocument/2006/relationships/slide" Target="/ppt/slides/slide19.xml" Id="R76d3360392764e93" /><Relationship Type="http://schemas.openxmlformats.org/officeDocument/2006/relationships/slide" Target="/ppt/slides/slide20.xml" Id="R5da53e6ce7ac4c89" /><Relationship Type="http://schemas.openxmlformats.org/officeDocument/2006/relationships/slide" Target="/ppt/slides/slide21.xml" Id="R36cba5fb797545ef" /><Relationship Type="http://schemas.openxmlformats.org/officeDocument/2006/relationships/slide" Target="/ppt/slides/slide22.xml" Id="R98977adf2790420d" /><Relationship Type="http://schemas.openxmlformats.org/officeDocument/2006/relationships/slide" Target="/ppt/slides/slide23.xml" Id="R9685146a2cb74de0" /><Relationship Type="http://schemas.openxmlformats.org/officeDocument/2006/relationships/slide" Target="/ppt/slides/slide24.xml" Id="R04b3c1338a1640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b4970a9cc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5e7b4eded4231" /><Relationship Type="http://schemas.openxmlformats.org/officeDocument/2006/relationships/notesMaster" Target="/ppt/notesMasters/notesMaster1.xml" Id="R804d4c4f7bf648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5a63faf7b464a" /><Relationship Type="http://schemas.openxmlformats.org/officeDocument/2006/relationships/notesMaster" Target="/ppt/notesMasters/notesMaster1.xml" Id="Rd09a89bd19ab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c3969082445be" /><Relationship Type="http://schemas.openxmlformats.org/officeDocument/2006/relationships/notesMaster" Target="/ppt/notesMasters/notesMaster1.xml" Id="Rb4c1f5852dd1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938d51fa2466c" /><Relationship Type="http://schemas.openxmlformats.org/officeDocument/2006/relationships/notesMaster" Target="/ppt/notesMasters/notesMaster1.xml" Id="Rad67f7c6ee75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e20a69b2a749ec" /><Relationship Type="http://schemas.openxmlformats.org/officeDocument/2006/relationships/notesMaster" Target="/ppt/notesMasters/notesMaster1.xml" Id="Red2f08aebe7344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f79b6512974724" /><Relationship Type="http://schemas.openxmlformats.org/officeDocument/2006/relationships/notesMaster" Target="/ppt/notesMasters/notesMaster1.xml" Id="R43555e6268fc42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fd03a6cd51426a" /><Relationship Type="http://schemas.openxmlformats.org/officeDocument/2006/relationships/notesMaster" Target="/ppt/notesMasters/notesMaster1.xml" Id="R38ade976ceca4e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fb65daabe44fed" /><Relationship Type="http://schemas.openxmlformats.org/officeDocument/2006/relationships/notesMaster" Target="/ppt/notesMasters/notesMaster1.xml" Id="Rb16e0c43f7604d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cbc8219fbd475d" /><Relationship Type="http://schemas.openxmlformats.org/officeDocument/2006/relationships/notesMaster" Target="/ppt/notesMasters/notesMaster1.xml" Id="R6028d42be3f248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77b314c7c64d80" /><Relationship Type="http://schemas.openxmlformats.org/officeDocument/2006/relationships/notesMaster" Target="/ppt/notesMasters/notesMaster1.xml" Id="R8d83a5905ace4a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d20a2d03124456" /><Relationship Type="http://schemas.openxmlformats.org/officeDocument/2006/relationships/notesMaster" Target="/ppt/notesMasters/notesMaster1.xml" Id="Re91998bd93b045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e97ca010c5428e" /><Relationship Type="http://schemas.openxmlformats.org/officeDocument/2006/relationships/notesMaster" Target="/ppt/notesMasters/notesMaster1.xml" Id="R29dc49ab29fd45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70002e777e4681" /><Relationship Type="http://schemas.openxmlformats.org/officeDocument/2006/relationships/notesMaster" Target="/ppt/notesMasters/notesMaster1.xml" Id="Ra26a2b525c0342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74bb6b534b4092" /><Relationship Type="http://schemas.openxmlformats.org/officeDocument/2006/relationships/notesMaster" Target="/ppt/notesMasters/notesMaster1.xml" Id="Rd7a389bbd47348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00f6528fb14517" /><Relationship Type="http://schemas.openxmlformats.org/officeDocument/2006/relationships/notesMaster" Target="/ppt/notesMasters/notesMaster1.xml" Id="R1dd7f385134f4b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26ac9bbda54888" /><Relationship Type="http://schemas.openxmlformats.org/officeDocument/2006/relationships/notesMaster" Target="/ppt/notesMasters/notesMaster1.xml" Id="R88f220d3fced4c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c300256e174d0f" /><Relationship Type="http://schemas.openxmlformats.org/officeDocument/2006/relationships/notesMaster" Target="/ppt/notesMasters/notesMaster1.xml" Id="R2ecc21fc44a240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64517045494534" /><Relationship Type="http://schemas.openxmlformats.org/officeDocument/2006/relationships/notesMaster" Target="/ppt/notesMasters/notesMaster1.xml" Id="R0de070ba0c5e43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39303d639d45a8" /><Relationship Type="http://schemas.openxmlformats.org/officeDocument/2006/relationships/notesMaster" Target="/ppt/notesMasters/notesMaster1.xml" Id="Ra4b9d4ddb23e4c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662be1deae4811" /><Relationship Type="http://schemas.openxmlformats.org/officeDocument/2006/relationships/notesMaster" Target="/ppt/notesMasters/notesMaster1.xml" Id="Rca09326a9f374d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bd9102a6d44704" /><Relationship Type="http://schemas.openxmlformats.org/officeDocument/2006/relationships/notesMaster" Target="/ppt/notesMasters/notesMaster1.xml" Id="R2d76657a133d4f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99fadb87e14b36" /><Relationship Type="http://schemas.openxmlformats.org/officeDocument/2006/relationships/notesMaster" Target="/ppt/notesMasters/notesMaster1.xml" Id="Rab8676f526534d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5fec0a0a154206" /><Relationship Type="http://schemas.openxmlformats.org/officeDocument/2006/relationships/notesMaster" Target="/ppt/notesMasters/notesMaster1.xml" Id="R812cc87747a946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236b11658a49ad" /><Relationship Type="http://schemas.openxmlformats.org/officeDocument/2006/relationships/notesMaster" Target="/ppt/notesMasters/notesMaster1.xml" Id="Rd75f9eebd2a9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00–01. Start setup while introducing the session. Intermediate/expert Python; all code is supplied. Use the same English test inputs in all three language editions.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01–02. Keep the break and final cleanup time. Each lab includes a brief introduction, student experiment and evidence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02–03. The user’s topic numbers continue the workshop labs, not the original chapter numbering. No extra accounts or large downloads. Do not claim platform feature equivalence.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03–10. Students copy the notebook to Drive, use CPU, and configure OPENAI_API_KEY in Secrets. Check model and Files/Vector Stores permissions. After two failures pair. No keys in code or outputs. https://developers.openai.com/api/docs/guides/retrieval ; https://developers.openai.com/api/reference/resources/vector_stores/methods/search ; https://developers.openai.com/api/reference/resources/vector_stores/methods/create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10–15 walkthrough, 15–30 student experiment, 30–35 review. Read P01/P02 and predict a four-hour query. https://developers.openai.com/api/docs/guides/retrieval ; https://developers.openai.com/api/reference/resources/vector_stores/methods/search ; https://developers.openai.com/api/reference/resources/vector_stores/methods/create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5 concept. This adapter uses managed indexing and explicit retrieval followed by generation. It does not reproduce Vectara hallucination correction. https://developers.openai.com/api/docs/guides/retrieval ; https://developers.openai.com/api/reference/resources/vector_stores/methods/search ; https://developers.openai.com/api/reference/resources/vector_stores/methods/create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5 code walkthrough. Files hold raw bytes; attaching a file starts indexing and supplies source_id/status. Ledger checkpoints avoid recreating known resources, but an ambiguous timeout still needs reconciliation. https://developers.openai.com/api/docs/guides/retrieval ; https://developers.openai.com/api/reference/resources/vector_stores/methods/search ; https://developers.openai.com/api/reference/resources/vector_stores/methods/create ; https://developers.openai.com/api/reference/resources/files/methods/delete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30–35. The preparation run ranked archived P02 first before filtering. P01 allows at most two hours/day. Rankings can differ on future runs. Ask students to cite actual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35–40 walkthrough, 40–55 experiment, 55–60 review. Predict which tools are required, then compare to actual trace. https://developers.openai.com/api/docs/guides/function-calling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6 walkthrough. Strict JSON schemas do not replace dispatch checks. Call IDs connect requested functions to their outputs. Model rounds may cost money before tool budget blocks execution. https://developers.openai.com/api/docs/guides/function-calling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6. Actual calls may arrive in either order. Log tool name, arguments, evidence IDs and execution time. Tool timing is local; model timing appears in api_log. https://developers.openai.com/api/docs/guides/function-calling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55–60 discussion. Actual rehearsal failure: valid P01 and SLOTS-LabA citations, but model claimed only the two-hour slot fits. Both individually fit; booking both totals three hours and violates the daily bound. Ask students to find the generation error before explaining. See Recorded-Example-Run.md.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five minutes for a real break. Confirm students saved notebooks and resource ledgers; help only those blocked by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65–69 walkthrough, 69–81 experiment, 81–85 review. These are original synthetic charts. Caption embeddings select the image; the model receives PNG pixels in the second condition. https://developers.openai.com/api/docs/guides/images-vision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7. Same question and selected source in both conditions; add only the image. A wrong retrieved chart remains a retrieval failure. Hash validation checks identity, not truth. https://developers.openai.com/api/docs/guides/images-vision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7 human check. Native editable chart reproduces original synthetic IMG-SEATS values exactly: Monday 18, Tuesday 42, Wednesday 27. It is teaching data, not real occupancy measurement. Ask students to compare the displayed notebook 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81–85. The rehearsal selected IMG-SEATS; caption-only response violated abstention citation requirements and was blocked. Image-assisted answer was 42. Teach actual status, not an assumed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85–90 walkthrough, 90–105 experiment, 105–110 review. Entities and typed directed edges are curated synthetic data. No graph server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8 path review. E01 plus E02 yields Projector X. E03 is revoked. E05 is current but unverified, so it cannot revive Advanced202 access. A verified flag is an exercise assumption, not a production authentication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8 code walkthrough. One hop reaches a certificate, not a device. Two hops complete the typed path. We rank all two device candidates; production candidate truncation can miss an eligible device before filtering.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105–110. Deep copy and revoke E01. Both revoked path and unknown team return empty lists deterministically. Empty-evidence generation is a separate paid observation; inspect status. Absence in a small graph is not universal proof about the real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110–114. Fill four reflections and four human_review strings using actual outputs. Each lab earns one point for evidence and one for interpretation. Correctly diagnosed failure earns credit.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114–118. Delete only ledger IDs. DELETE stays available after the 100-request classroom cap. Treat 404 as already absent; preserve ledger after partial failure. One-day store expiry does not delete original Files. https://developers.openai.com/api/reference/resources/files/methods/delete ; https://developers.openai.com/api/docs/guides/retrieval ; https://developers.openai.com/api/reference/resources/vector_stores/methods/search ; https://developers.openai.com/api/reference/resources/vector_stores/methods/create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118–120. Close with the scope boundary and direct students to source chapters. English, Japanese and Simplified Chinese workbooks contain the same executable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Curriculum: supplied corrected RAG Vault, Hands-On RAG for Production, Mendelevitch &amp; Bao, Chapters 5, 7, 8 and 9. Original synthetic classroom exercise; this session is an adaptation, not the complete chapter stacks.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d73d71fac4b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c6f7fecafd4bae" /><Relationship Type="http://schemas.openxmlformats.org/officeDocument/2006/relationships/slideLayout" Target="/ppt/slideLayouts/slideLayout1.xml" Id="R5df304d08cf4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304d08cf4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5aba244ef401f" /><Relationship Type="http://schemas.openxmlformats.org/officeDocument/2006/relationships/notesSlide" Target="/ppt/notesSlides/notesSlide1.xml" Id="R031f8b3d200e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3bafc7c0548f4" /><Relationship Type="http://schemas.openxmlformats.org/officeDocument/2006/relationships/notesSlide" Target="/ppt/notesSlides/notesSlide2.xml" Id="R623e46641b3146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1382007bb4987" /><Relationship Type="http://schemas.openxmlformats.org/officeDocument/2006/relationships/notesSlide" Target="/ppt/notesSlides/notesSlide3.xml" Id="R96f4dfb5b7ff4e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6d2c285b8476d" /><Relationship Type="http://schemas.openxmlformats.org/officeDocument/2006/relationships/notesSlide" Target="/ppt/notesSlides/notesSlide4.xml" Id="R3489a17336f3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57b5f4cea43ed" /><Relationship Type="http://schemas.openxmlformats.org/officeDocument/2006/relationships/notesSlide" Target="/ppt/notesSlides/notesSlide5.xml" Id="Re0d09e56245445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73436fbe43e4" /><Relationship Type="http://schemas.openxmlformats.org/officeDocument/2006/relationships/notesSlide" Target="/ppt/notesSlides/notesSlide6.xml" Id="Rf1ffa3f8dce64a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a4f449acb48d2" /><Relationship Type="http://schemas.openxmlformats.org/officeDocument/2006/relationships/notesSlide" Target="/ppt/notesSlides/notesSlide7.xml" Id="R553df47e96ef4f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5427546546e4" /><Relationship Type="http://schemas.openxmlformats.org/officeDocument/2006/relationships/notesSlide" Target="/ppt/notesSlides/notesSlide8.xml" Id="R5633848ad22e4b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ffca5c0a8474a" /><Relationship Type="http://schemas.openxmlformats.org/officeDocument/2006/relationships/notesSlide" Target="/ppt/notesSlides/notesSlide9.xml" Id="Ra19269f9674f46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45f02ef69437e" /><Relationship Type="http://schemas.openxmlformats.org/officeDocument/2006/relationships/notesSlide" Target="/ppt/notesSlides/notesSlide10.xml" Id="Rc3bbe99ccedf45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8eb61d2fb4988" /><Relationship Type="http://schemas.openxmlformats.org/officeDocument/2006/relationships/notesSlide" Target="/ppt/notesSlides/notesSlide11.xml" Id="Ree572fb1f91842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d8245fcdc47d0" /><Relationship Type="http://schemas.openxmlformats.org/officeDocument/2006/relationships/notesSlide" Target="/ppt/notesSlides/notesSlide12.xml" Id="R1f8e9d1df36348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29defde9240dc" /><Relationship Type="http://schemas.openxmlformats.org/officeDocument/2006/relationships/notesSlide" Target="/ppt/notesSlides/notesSlide13.xml" Id="R861fb5b9fae147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d5f424b054aa8" /><Relationship Type="http://schemas.openxmlformats.org/officeDocument/2006/relationships/notesSlide" Target="/ppt/notesSlides/notesSlide14.xml" Id="R2a789ebfadd84c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a7434b8f4ad9" /><Relationship Type="http://schemas.openxmlformats.org/officeDocument/2006/relationships/notesSlide" Target="/ppt/notesSlides/notesSlide15.xml" Id="R9caa3752ee6e46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3c23dc58b4e5f" /><Relationship Type="http://schemas.openxmlformats.org/officeDocument/2006/relationships/chart" Target="/ppt/slides/charts/chart1.xml" Id="Rd1277c9a7db044f4" /><Relationship Type="http://schemas.openxmlformats.org/officeDocument/2006/relationships/notesSlide" Target="/ppt/notesSlides/notesSlide16.xml" Id="Ra443970ab9e347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3db16fc94ab6" /><Relationship Type="http://schemas.openxmlformats.org/officeDocument/2006/relationships/notesSlide" Target="/ppt/notesSlides/notesSlide17.xml" Id="R795ce372c8da4c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48cfb67fb479b" /><Relationship Type="http://schemas.openxmlformats.org/officeDocument/2006/relationships/notesSlide" Target="/ppt/notesSlides/notesSlide18.xml" Id="Rd2e5465831814b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42458d2df4661" /><Relationship Type="http://schemas.openxmlformats.org/officeDocument/2006/relationships/notesSlide" Target="/ppt/notesSlides/notesSlide19.xml" Id="R7ad64e81bbeb4b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b06a26e7c4192" /><Relationship Type="http://schemas.openxmlformats.org/officeDocument/2006/relationships/notesSlide" Target="/ppt/notesSlides/notesSlide20.xml" Id="R40264527fbc247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dbd494da14afc" /><Relationship Type="http://schemas.openxmlformats.org/officeDocument/2006/relationships/notesSlide" Target="/ppt/notesSlides/notesSlide21.xml" Id="R306aa5e164ea40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77d17c0741d1" /><Relationship Type="http://schemas.openxmlformats.org/officeDocument/2006/relationships/notesSlide" Target="/ppt/notesSlides/notesSlide22.xml" Id="R68e4bdae618b44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3a483ee034da5" /><Relationship Type="http://schemas.openxmlformats.org/officeDocument/2006/relationships/notesSlide" Target="/ppt/notesSlides/notesSlide23.xml" Id="R8dfd2b61924f4a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90922062842dc" /><Relationship Type="http://schemas.openxmlformats.org/officeDocument/2006/relationships/notesSlide" Target="/ppt/notesSlides/notesSlide24.xml" Id="R5f0e8048237548d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Occupied seats</c:v>
          </c:tx>
          <c:spPr>
            <a:solidFill xmlns:a="http://schemas.openxmlformats.org/drawingml/2006/main">
              <a:srgbClr val="007B78"/>
            </a:solidFill>
          </c:spPr>
          <c:cat>
            <c:strLit>
              <c:ptCount val="3"/>
              <c:pt idx="0">
                <c:v>Monday</c:v>
              </c:pt>
              <c:pt idx="1">
                <c:v>Tuesday</c:v>
              </c:pt>
              <c:pt idx="2">
                <c:v>Wednesday</c:v>
              </c:pt>
            </c:strLit>
          </c:cat>
          <c:val>
            <c:numLit>
              <c:formatCode>General</c:formatCode>
              <c:ptCount val="3"/>
              <c:pt idx="0">
                <c:v>18</c:v>
              </c:pt>
              <c:pt idx="1">
                <c:v>42</c:v>
              </c:pt>
              <c:pt idx="2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22D3C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6C8A6-CAA0-4C4A-ABE3-71729CA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RAG · the next four 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0936-8110-4F56-8CBC-6DC3049D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D06C3-0D72-4999-B01A-C87AED1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25A36-EE9E-4B13-8F62-DD6A7122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Platforms, agents, images and graphs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E9210-C666-40DF-ADAF-D442620A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Two hours · Google Colab + 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795F0-9985-4E71-BDF1-D3ACA40D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Labs 5–8 · English / 日本語 / 简体中文 workbooks</a:t>
            </a:r>
          </a:p>
        </p:txBody>
      </p:sp>
    </p:spTree>
    <p:extLst>
      <p:ext uri="{BB962C8B-B14F-4D97-AF65-F5344CB8AC3E}">
        <p14:creationId xmlns:p14="http://schemas.microsoft.com/office/powerpoint/2010/main" val="1878182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CCE22-9EB0-423B-B31C-F491C94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Today’s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C572F-7ECF-417E-BCBD-F7146761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E64FF-2240-4272-B83B-B7AE5900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448175"/>
                <a:gridCol w="4857750"/>
              </a:tblGrid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Activity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00–10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READY and recovery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10–35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5 · RAG platform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Filtered evidence and answer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35–60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6 · AI agent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Tool trace and limits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60–65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Break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 notebook and ledger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65–85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7 · Multimodal RAG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Caption / image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85–110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8 · Knowledge graph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Path and revocation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1196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110–120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and 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+ 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11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284B3-E4E4-471D-B626-50B31AB6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Chapter concepts, focused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F0779-F60E-4B5A-969C-C50AD2A6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94BF4-0185-4D8E-9069-A9DFAA9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190750"/>
                <a:gridCol w="625792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chapter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This classroom implementation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· Platform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OpenAI managed retrieval + 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· Agent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read-only tools; bounded loop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· Multimodal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Caption retrieval + actual image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· Graph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Typed in-memory graph + vector candidates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468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5FD7A-7097-464A-A543-E3B4235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Setup and resource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82B33-668D-4AF8-877F-DDD0BA8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04124-F7CB-4BFA-9B0A-10FA75D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E5BDD-9188-49E7-AC92-286D9051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Run setup and inspect READY plus the preflight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504D1-0C93-435D-A840-9474046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Save the resource ledger after upload; it identifies only this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83CD4-DD56-468B-8729-3B4638D0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Before leaving: delete the store AND its original uploaded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7EFEF-AD59-488F-80C4-31EC0721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The request counter is a classroom limit, not an account spending cap.</a:t>
            </a:r>
          </a:p>
        </p:txBody>
      </p:sp>
    </p:spTree>
    <p:extLst>
      <p:ext uri="{BB962C8B-B14F-4D97-AF65-F5344CB8AC3E}">
        <p14:creationId xmlns:p14="http://schemas.microsoft.com/office/powerpoint/2010/main" val="1118524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5681E-74EB-46AD-8F5D-9A5675AF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5 · a managed RAG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2B962-D469-4280-B94E-0325AA3D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AA207-2C5F-4519-92CB-7874EFFB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556D8-5AE4-4C02-AD54-FDF86B80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Upload four synthetic policies and wait for all files to be indexed.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F9FBE-3E8B-431A-B89D-BD0873B0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Compare unfiltered search with current-only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8E423-8A88-4DFE-B87A-B9ADB5F2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Generate from eligible evidence and check the stated hours.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3C7A7-D1FD-4F03-9726-BE9C40E0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Save: readiness, returned IDs, answer, responsibility split</a:t>
            </a:r>
          </a:p>
        </p:txBody>
      </p:sp>
    </p:spTree>
    <p:extLst>
      <p:ext uri="{BB962C8B-B14F-4D97-AF65-F5344CB8AC3E}">
        <p14:creationId xmlns:p14="http://schemas.microsoft.com/office/powerpoint/2010/main" val="1560685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E1AB7-A915-4520-8B8B-2AAA60E9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Provider and application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886B3-6B03-4790-ABAB-A51CD66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8C8E2-7C62-4EDF-AEA9-A8CB1138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72050"/>
                <a:gridCol w="600075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Provider handles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 still decides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Parsing, chunking, embedding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source versions are 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Indexing and retrieval execution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users may access which evidence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Hosted storage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to review answers and delete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9FD0A-0977-4814-B3FB-913A7739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A metadata filter is not a complete authorization system.</a:t>
            </a:r>
          </a:p>
        </p:txBody>
      </p:sp>
    </p:spTree>
    <p:extLst>
      <p:ext uri="{BB962C8B-B14F-4D97-AF65-F5344CB8AC3E}">
        <p14:creationId xmlns:p14="http://schemas.microsoft.com/office/powerpoint/2010/main" val="2008870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EE08D-ED2F-4EE2-9FC1-D7393CF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platform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BB12F-EC65-41AD-AAC9-5DD3F03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855B3-D71A-49F7-A315-5A8E5836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0A5F9-7498-44DF-B155-453DF49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Create a Files object → attach it to the vector store.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0583B-BFDF-48EC-85AE-5F201CA2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Poll file_counts → search only when all four files are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40420-7F68-42AA-9182-775C7CB0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Save source IDs → generate → review → delete both object types.</a:t>
            </a:r>
          </a:p>
        </p:txBody>
      </p:sp>
    </p:spTree>
    <p:extLst>
      <p:ext uri="{BB962C8B-B14F-4D97-AF65-F5344CB8AC3E}">
        <p14:creationId xmlns:p14="http://schemas.microsoft.com/office/powerpoint/2010/main" val="712741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BF13-8666-4E77-A4D3-A66C0BD6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5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A6252-607D-4EFB-8758-DADB0E57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A2895-0F51-4C87-A6E6-30EA89E7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F59A6-7FDA-4AD0-9971-ADB0960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Where did archived P02 appear before filtering?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5E0AC-D69F-4542-AE6B-9606C0DE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Does the filtered answer follow current P01: at most two hours?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C5FF7-27E5-4868-BE15-D326EE6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Which remaining responsibility would matter most in production?</a:t>
            </a:r>
          </a:p>
        </p:txBody>
      </p:sp>
    </p:spTree>
    <p:extLst>
      <p:ext uri="{BB962C8B-B14F-4D97-AF65-F5344CB8AC3E}">
        <p14:creationId xmlns:p14="http://schemas.microsoft.com/office/powerpoint/2010/main" val="79213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41E6F-69DA-4137-9ACB-31BD212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6 · a bounded AI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4BE8-C6E7-4D32-A10E-43B58A3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76D71-EC29-49FA-B560-3680DDDF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7109D-7FB9-43BA-8195-1B4CC75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search_policy retrieves current rules from a local corpus.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830E-23F5-4D34-BEB2-88F6CE1F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get_slots reads a Tuesday snapshot; it does not make a booking.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BA555-29EE-4267-8AE4-98262B5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model requests tools. Python validates and executes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E7C33-19AB-4808-8FF6-2E1BE5F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Question: which LabA slots fit the booking-duration policy?</a:t>
            </a:r>
          </a:p>
        </p:txBody>
      </p:sp>
    </p:spTree>
    <p:extLst>
      <p:ext uri="{BB962C8B-B14F-4D97-AF65-F5344CB8AC3E}">
        <p14:creationId xmlns:p14="http://schemas.microsoft.com/office/powerpoint/2010/main" val="1652127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5963D-706B-4F12-B742-F5380BA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tool-execution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49B4A-173E-4A56-99C7-CAD57CAC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02C4E-37C9-4D84-8105-7153FFD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7200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Concrete behavior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7200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Allowlisted names and arguments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 unknown tools and unsupported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Matching call_id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each result to the original request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7200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tools / four model rounds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Stop before unbounded execution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Sources actually returned by tools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 unsupported source IDs in final output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809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6F405-E92D-4C8D-85F0-221D4B4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Read the trace, then read 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BB1F-3622-4BF9-AD51-79BD239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FF714-7CF4-4025-8090-A864332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 item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inspect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Tool name and arguments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Was the requested fact necessary and in scope?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Returned source IDs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the tool provide the facts used in the answer?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Answered, abstained, rejected or budget exhausted?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 meaning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the model interpret the rule correctly?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4652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3F422-9A79-4100-8D6F-04305ED0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“At most” is not “exactly”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291EC-1A18-4186-A81E-C6AB5DF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834AE-438C-45D7-AFEF-84EBB658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F5C94-4F37-4ED4-BE0F-2C3FCC58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Policy: at most two hours per day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762250"/>
          <a:ext xmlns:a="http://schemas.openxmlformats.org/drawingml/2006/main" cx="109728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571750"/>
                <a:gridCol w="4781550"/>
              </a:tblGrid>
              <a:tr h="692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Available slot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Individually within the limit?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92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10:00–11:00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hour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2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14:00–16:00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hours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C948D-F23F-4475-91D1-6224972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 correct source reference does not prove correct reasoning.</a:t>
            </a:r>
          </a:p>
        </p:txBody>
      </p:sp>
    </p:spTree>
    <p:extLst>
      <p:ext uri="{BB962C8B-B14F-4D97-AF65-F5344CB8AC3E}">
        <p14:creationId xmlns:p14="http://schemas.microsoft.com/office/powerpoint/2010/main" val="607871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877BA-E519-4DF5-B0BB-C6D02ECA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Break · 60–65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A5D0A-016B-4085-8F5D-6CDB8E3F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F9B51-F346-4F1E-988F-9A11C1B0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AF696-2ABF-424A-B6FF-C005C66F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your notebook and resource ledger.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5AFF6-A182-4C91-BBF7-3253FE5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Next: select visual evidence and inspect what it actually says.</a:t>
            </a:r>
          </a:p>
        </p:txBody>
      </p:sp>
    </p:spTree>
    <p:extLst>
      <p:ext uri="{BB962C8B-B14F-4D97-AF65-F5344CB8AC3E}">
        <p14:creationId xmlns:p14="http://schemas.microsoft.com/office/powerpoint/2010/main" val="1376031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A206F-7B8E-4A60-849A-6DBC977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7 · retrieve an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5E16E-9AE0-4206-8033-6849DF48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07520-F0CC-41EE-B519-E8A5A78D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99897-FB09-4062-ACF6-B8DA153A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Embed captions that describe the subject but omit the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60967-2216-4DD6-994F-49E2396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Rank two images for the Tuesday occupied-seat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B0729-1185-4E19-981E-44C4063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Compare caption-only and caption-plus-image answers.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652A9-7D3E-4744-A733-E4A387A9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This is caption-indexed RAG, not a joint image/text embedding model.</a:t>
            </a:r>
          </a:p>
        </p:txBody>
      </p:sp>
    </p:spTree>
    <p:extLst>
      <p:ext uri="{BB962C8B-B14F-4D97-AF65-F5344CB8AC3E}">
        <p14:creationId xmlns:p14="http://schemas.microsoft.com/office/powerpoint/2010/main" val="11319549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8B5DE-4DF1-4A45-B181-4696C833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Keep the evidence conditions comparable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043A4-7AA5-46D5-BACD-85B2CD1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2B65A-138D-4BF2-B5B2-412921C2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7762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reaches the model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7762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Caption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Question, image ID and subject description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Caption + pixels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evidence plus selected PNG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7762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 the day, unit and value in the actual chart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B6C4A-8684-47B3-AFD7-B4BAACB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4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Inspect guardrail_status: rejected output is not accepted abstention.</a:t>
            </a:r>
          </a:p>
        </p:txBody>
      </p:sp>
    </p:spTree>
    <p:extLst>
      <p:ext uri="{BB962C8B-B14F-4D97-AF65-F5344CB8AC3E}">
        <p14:creationId xmlns:p14="http://schemas.microsoft.com/office/powerpoint/2010/main" val="21441581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2CD03-C89D-48E8-B898-F1C8BC7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Read the retrieved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47D0C-497E-4BA7-84D6-FF092905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56F4E-58CF-49CB-9822-23FE8B30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047750" y="1790700"/>
          <a:ext xmlns:a="http://schemas.openxmlformats.org/drawingml/2006/main" cx="10096500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277c9a7db044f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9FD1D-4DA8-487E-8B3E-6DB97B8E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IMG-SEATS · occupied seats · original synthetic classroom data</a:t>
            </a:r>
          </a:p>
        </p:txBody>
      </p:sp>
    </p:spTree>
    <p:extLst>
      <p:ext uri="{BB962C8B-B14F-4D97-AF65-F5344CB8AC3E}">
        <p14:creationId xmlns:p14="http://schemas.microsoft.com/office/powerpoint/2010/main" val="13996588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CE6BB-9993-468F-B4C1-73AB45AE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7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A649-FE3E-410C-AAB7-89A934C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88264-AFD4-4E62-A80B-9D79A6E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1D93E-CC43-448F-A120-AA030EA1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Did retrieval select seats or print jobs?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9EAA6-CD8F-4F60-81E5-205BA8A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Does the answer match Tuesday’s value and the unit?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F2AC2-6EF7-4907-BC8B-0FFCF14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What new visual test would challenge this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E2DC8-A13F-4168-B96B-D916C3C7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Consider low resolution, confusing axes or instructions inside an image.</a:t>
            </a:r>
          </a:p>
        </p:txBody>
      </p:sp>
    </p:spTree>
    <p:extLst>
      <p:ext uri="{BB962C8B-B14F-4D97-AF65-F5344CB8AC3E}">
        <p14:creationId xmlns:p14="http://schemas.microsoft.com/office/powerpoint/2010/main" val="12392928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1BEAB-217C-45B7-B800-FEF7A58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8 · relationships constrain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D81AE-F333-44DA-9FBC-4B57360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29229-E5A7-4485-924B-6FB20A4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3E0EE-EB34-43FC-AF28-F04DED08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Find the two-hop path from Team Orion to an eligible device.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6B491-DD32-46BC-AF48-252616E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Compare vector candidates with graph-constrained candidates.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C31CF-AAD8-471A-A059-8BF77BE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Revoke one certificate relationship and retest.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4991-3039-4077-A9DC-52CA7D93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Question: which classroom projector may Team Orion use?</a:t>
            </a:r>
          </a:p>
        </p:txBody>
      </p:sp>
    </p:spTree>
    <p:extLst>
      <p:ext uri="{BB962C8B-B14F-4D97-AF65-F5344CB8AC3E}">
        <p14:creationId xmlns:p14="http://schemas.microsoft.com/office/powerpoint/2010/main" val="8890929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7A649-9864-4253-A21E-230952A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graph’s evidence and trust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3290E-A60C-4ACA-A255-945EDDF0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D603-FBED-40E8-991E-0C8E0A8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7210425"/>
                <a:gridCol w="28575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Relationship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Team Orion HAS_CERT Safety101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Current, 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E02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Safety101 QUALIFIES_FOR Projector X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Current, verified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Team Orion HAS_CERT Advanced202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Revoked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E04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Advanced202 QUALIFIES_FOR Projector Y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Current, verified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Team Orion HAS_CERT Advanced202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Current, unverified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929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40E0C-C628-4604-AB78-AED433E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Hybrid retrieval in this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B1E41-5126-4749-9A5A-12C3D68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5175B-B1D0-454D-98F5-127CFCC4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09383-3590-4931-87E1-1AB6922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Vector similarity ranks Projector X and Projector Y descriptions.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7666A-167D-4F2A-9429-6ADD1165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Current, verified graph paths retain only Projector 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69F2F-EBD4-4B2D-AFA8-B6F33A04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Generate from E01, E02, policy P03 and the eligible device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52F61-A8B5-4B95-92A9-F785793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Similarity does not grant permission. A path still needs trustworthy facts.</a:t>
            </a:r>
          </a:p>
        </p:txBody>
      </p:sp>
    </p:spTree>
    <p:extLst>
      <p:ext uri="{BB962C8B-B14F-4D97-AF65-F5344CB8AC3E}">
        <p14:creationId xmlns:p14="http://schemas.microsoft.com/office/powerpoint/2010/main" val="19776165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6CEA4-9C6E-4E9F-A5E0-1DFE30C8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8 · revocation and missing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2928D-A736-4A65-8611-6556AC84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0DED5-266A-401B-BB9C-93B2AF41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60198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Deterministic graph result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Baseline, two hops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Projector X via E01 and E02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hop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eligible device established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E01 revoked / unknown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eligible device established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FA1FC-B101-4300-A8D1-612BE1D5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Human review: does the generated explanation cite the complete path?</a:t>
            </a:r>
          </a:p>
        </p:txBody>
      </p:sp>
    </p:spTree>
    <p:extLst>
      <p:ext uri="{BB962C8B-B14F-4D97-AF65-F5344CB8AC3E}">
        <p14:creationId xmlns:p14="http://schemas.microsoft.com/office/powerpoint/2010/main" val="13645635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F6F8E-64EF-4D30-8F1C-7AE5DBD1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Your evidence and one-minute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74DAB-9B2F-42EE-B584-A23B1B4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1A34A-CC08-4153-AA3D-3351EE6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ED3AB-E539-4502-8372-9040C52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Identify one observed failure or unresolved limitation.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C8DC4-E5B3-41F9-86F9-D24CE19C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Name the layer and the evidence that supports your diagnosis.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5B150-ED20-4567-B36E-A73CBA11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Propose one change and a new test that could disprove its benefit.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8DF38-7357-40E1-A2D6-0030869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Eight points total · successful execution alone is not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8407389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07398-B956-40D8-877B-A77D331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Cleanup is part of the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A0853-5234-4C5C-B133-68FA513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3C176-355E-4037-9DF3-5EE1E92C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94B8A-6A98-4B4D-AA00-CBEB858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Run cleanup: vector store first, original Files objects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A9290-B8EC-429D-BD37-E8967A0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Confirm cleanup complete: True; keep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736C8-2020-4BCB-86F1-CD7143E6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Export JSON and save the notebook, including text-cell observations.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C3F9F-1D7D-4007-82BF-1592D52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A nonempty reflection flag checks completion, not reasoning quality.</a:t>
            </a:r>
          </a:p>
        </p:txBody>
      </p:sp>
    </p:spTree>
    <p:extLst>
      <p:ext uri="{BB962C8B-B14F-4D97-AF65-F5344CB8AC3E}">
        <p14:creationId xmlns:p14="http://schemas.microsoft.com/office/powerpoint/2010/main" val="1239007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2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97076-157E-486E-A37F-1FA0FD9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 with the full chapters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D4C39-A375-400D-96DA-7A7481D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RAG ON PRODUCTION · SESSION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CBBB0-3C87-4ED2-81F6-4677E1E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0A20F-8EB6-4815-988E-62FFE244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Chapter 5: Vectara and managed platform capabilities.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72F27-BB14-4CB9-8D8E-76A013EB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Chapter 7: agent frameworks, MCP and observability.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33347-D35F-4943-889B-B7E0C47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Chapters 8–9: tables, audio, Neo4j and broader GraphRAG.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48E00-9F57-4811-A635-A28FA858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Choose the next extension from an observed failure.</a:t>
            </a:r>
          </a:p>
        </p:txBody>
      </p:sp>
    </p:spTree>
    <p:extLst>
      <p:ext uri="{BB962C8B-B14F-4D97-AF65-F5344CB8AC3E}">
        <p14:creationId xmlns:p14="http://schemas.microsoft.com/office/powerpoint/2010/main" val="548008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2026-09-09T01:32:08.5410000Z</dcterms:created>
  <dcterms:modified xsi:type="dcterms:W3CDTF">2026-09-09T01:32:08.5410000Z</dcterms:modified>
</coreProperties>
</file>